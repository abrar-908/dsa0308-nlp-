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78" r:id="rId10"/>
    <p:sldId id="265" r:id="rId11"/>
    <p:sldId id="272" r:id="rId12"/>
    <p:sldId id="266" r:id="rId13"/>
    <p:sldId id="273" r:id="rId14"/>
    <p:sldId id="267" r:id="rId15"/>
    <p:sldId id="274" r:id="rId16"/>
    <p:sldId id="268" r:id="rId17"/>
    <p:sldId id="275" r:id="rId18"/>
    <p:sldId id="276" r:id="rId19"/>
    <p:sldId id="270" r:id="rId20"/>
    <p:sldId id="277" r:id="rId21"/>
    <p:sldId id="27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0" d="100"/>
          <a:sy n="70" d="100"/>
        </p:scale>
        <p:origin x="-636" y="-2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E80AD3-FEBF-4BB7-9F08-B2B1A7905B2F}" type="datetimeFigureOut">
              <a:rPr lang="en-US" smtClean="0"/>
              <a:t>09/01/2026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80DBE3-375E-441B-B7FA-CDE0E66E7D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284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12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9.png"/><Relationship Id="rId5" Type="http://schemas.openxmlformats.org/officeDocument/2006/relationships/image" Target="../media/image14.png"/><Relationship Id="rId10" Type="http://schemas.openxmlformats.org/officeDocument/2006/relationships/image" Target="../media/image18.png"/><Relationship Id="rId4" Type="http://schemas.openxmlformats.org/officeDocument/2006/relationships/image" Target="../media/image3.jpg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3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ban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411480"/>
            <a:ext cx="9445752" cy="139903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2057400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1A1A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DEPARTMENT OF COMPUTER SCIENCE AND ENGINEERING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 txBox="1"/>
          <p:nvPr/>
        </p:nvSpPr>
        <p:spPr>
          <a:xfrm>
            <a:off x="1188720" y="2450592"/>
            <a:ext cx="9811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70C0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NATURAL LANGUAGE PROCESSING  </a:t>
            </a:r>
            <a:r>
              <a:rPr lang="en-US" sz="1800" dirty="0" smtClean="0">
                <a:solidFill>
                  <a:srgbClr val="0070C0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[</a:t>
            </a:r>
            <a:r>
              <a:rPr lang="en-US" dirty="0" smtClean="0">
                <a:solidFill>
                  <a:srgbClr val="0070C0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DSA0308</a:t>
            </a:r>
            <a:r>
              <a:rPr lang="en-US" sz="1800" dirty="0" smtClean="0">
                <a:solidFill>
                  <a:srgbClr val="0070C0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]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737360" y="2977256"/>
            <a:ext cx="8714232" cy="1371600"/>
          </a:xfrm>
          <a:prstGeom prst="rect">
            <a:avLst/>
          </a:prstGeom>
          <a:solidFill>
            <a:srgbClr val="FFFFFF"/>
          </a:solidFill>
          <a:ln w="15875">
            <a:solidFill>
              <a:srgbClr val="C000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920240" y="3068696"/>
            <a:ext cx="8348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Campus-Aware Intelligent Lost-and-Found Management System Using NLP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822960" y="4800600"/>
            <a:ext cx="56692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b="1" dirty="0" smtClean="0">
                <a:solidFill>
                  <a:srgbClr val="000000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Presented by
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. Syed Thoufiq (192424211)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S. Mohammad Abrar (192472185)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B. Praneeth (192472222)</a:t>
            </a:r>
          </a:p>
          <a:p>
            <a:pPr>
              <a:lnSpc>
                <a:spcPct val="150000"/>
              </a:lnSpc>
            </a:pPr>
            <a:r>
              <a:rPr lang="fi-FI" sz="1600" dirty="0">
                <a:latin typeface="Times New Roman" pitchFamily="18" charset="0"/>
                <a:cs typeface="Times New Roman" pitchFamily="18" charset="0"/>
              </a:rPr>
              <a:t>K. Subrahmanya Venkata Sai Manikanta (192472220)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7680960" y="49377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Guided by</a:t>
            </a:r>
            <a:r>
              <a:rPr lang="en-US" sz="1800" b="1" dirty="0" smtClean="0">
                <a:solidFill>
                  <a:srgbClr val="000000"/>
                </a:solidFill>
                <a:latin typeface="Times New Roman" pitchFamily="18" charset="0"/>
                <a:ea typeface="Times New Roman" pitchFamily="34" charset="-122"/>
                <a:cs typeface="Times New Roman" pitchFamily="18" charset="0"/>
              </a:rPr>
              <a:t>:</a:t>
            </a:r>
            <a:endParaRPr lang="en-US" b="1" dirty="0">
              <a:solidFill>
                <a:srgbClr val="000000"/>
              </a:solidFill>
              <a:latin typeface="Times New Roman" pitchFamily="18" charset="0"/>
              <a:ea typeface="Times New Roman" pitchFamily="34" charset="-122"/>
              <a:cs typeface="Times New Roman" pitchFamily="18" charset="0"/>
            </a:endParaRPr>
          </a:p>
          <a:p>
            <a:pPr marL="0" indent="0">
              <a:lnSpc>
                <a:spcPct val="130000"/>
              </a:lnSpc>
              <a:buNone/>
            </a:pPr>
            <a:r>
              <a:rPr lang="en-US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Dr. T Kumaragurubaran</a:t>
            </a: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INTRODUCTION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411480" y="1234440"/>
            <a:ext cx="11338560" cy="5120640"/>
          </a:xfrm>
          <a:prstGeom prst="roundRect">
            <a:avLst>
              <a:gd name="adj" fmla="val 1786"/>
            </a:avLst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1005840" y="1508760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2" descr="/home/claude/work/icons/in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0432" y="1673352"/>
            <a:ext cx="365760" cy="36576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965960" y="149047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Campus lost-and-found desks receive a large volume of free-text reports every day.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4"/>
          <p:cNvSpPr/>
          <p:nvPr/>
        </p:nvSpPr>
        <p:spPr>
          <a:xfrm>
            <a:off x="1005840" y="2441448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0" name="Image 3" descr="/home/claude/work/icons/hourgl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0432" y="2606040"/>
            <a:ext cx="365760" cy="36576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1965960" y="2423160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Manual matching is slow, inconsistent, and easy to miss valid matches.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6"/>
          <p:cNvSpPr/>
          <p:nvPr/>
        </p:nvSpPr>
        <p:spPr>
          <a:xfrm>
            <a:off x="1005840" y="3374136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4" descr="/home/claude/work/icons/comment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0432" y="3538728"/>
            <a:ext cx="365760" cy="36576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965960" y="3355848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Different people describe the same object using very different words and phrasing.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8"/>
          <p:cNvSpPr/>
          <p:nvPr/>
        </p:nvSpPr>
        <p:spPr>
          <a:xfrm>
            <a:off x="1005840" y="4306824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5" descr="/home/claude/work/icons/bra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0432" y="4471416"/>
            <a:ext cx="365760" cy="36576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1965960" y="4288536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NLP techniques can normalize, structure, and compare these descriptions automatically.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Shape 10"/>
          <p:cNvSpPr/>
          <p:nvPr/>
        </p:nvSpPr>
        <p:spPr>
          <a:xfrm>
            <a:off x="1005840" y="5239512"/>
            <a:ext cx="685800" cy="685800"/>
          </a:xfrm>
          <a:prstGeom prst="ellipse">
            <a:avLst/>
          </a:prstGeom>
          <a:solidFill>
            <a:schemeClr val="tx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9" name="Image 6" descr="/home/claude/work/icons/handshak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0432" y="5404104"/>
            <a:ext cx="365760" cy="36576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1965960" y="522122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project extracts, analyzes, and ranks matches to reunite items with their owners faster.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1" name="Text 1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LITERATURE REVIEW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2687106"/>
              </p:ext>
            </p:extLst>
          </p:nvPr>
        </p:nvGraphicFramePr>
        <p:xfrm>
          <a:off x="457200" y="1371600"/>
          <a:ext cx="11247120" cy="4754880"/>
        </p:xfrm>
        <a:graphic>
          <a:graphicData uri="http://schemas.openxmlformats.org/drawingml/2006/table">
            <a:tbl>
              <a:tblPr/>
              <a:tblGrid>
                <a:gridCol w="731520"/>
                <a:gridCol w="2103120"/>
                <a:gridCol w="2834640"/>
                <a:gridCol w="2834640"/>
                <a:gridCol w="2743200"/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 Area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Reviewed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Advantages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F5C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Named Entity Recognition (NER)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Accurately pulls structured fields from free text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Struggles with informal or very short descriptions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Grammatical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HMM-based POS Tagging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word-category identification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drops on ambiguous or slang wording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Representation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+ N-gram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Simple, interpretable, fast to compute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Misses deeper semantic/contextual 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Matching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Similarity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 and widely used for text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Sensitive to vocabulary mismatch between reports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503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Applied Matching Systems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Matching for Classified/Lost-Item Listings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Reduces manual search and turnaround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reasonably detailed descriptions to work well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PROBLEM STATEMENT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40080" y="1737360"/>
            <a:ext cx="6858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20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Lost-and-found reports on campus are currently matched manually by staff, which is slow and error-prone.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same item gets described differently by different people, using different words, detail levels, and sentence structures.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There is a need for an NLP-based system that can understand item descriptions, extract key details, and automatically identify and rank likely matches between lost and found reports.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7909560" y="1737360"/>
            <a:ext cx="3611880" cy="3611880"/>
          </a:xfrm>
          <a:prstGeom prst="roundRect">
            <a:avLst>
              <a:gd name="adj" fmla="val 3038"/>
            </a:avLst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44000" y="2331720"/>
            <a:ext cx="1463040" cy="1463040"/>
          </a:xfrm>
          <a:prstGeom prst="ellipse">
            <a:avLst/>
          </a:prstGeom>
          <a:solidFill>
            <a:srgbClr val="6A2C9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2" descr="/home/claude/work/icons/magnifyinggl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09760" y="2697480"/>
            <a:ext cx="731520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092440" y="3977640"/>
            <a:ext cx="3246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Same Item,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Different Words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5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OBJECTIVES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640080" y="184518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40080" y="184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1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Text 3"/>
          <p:cNvSpPr txBox="1"/>
          <p:nvPr/>
        </p:nvSpPr>
        <p:spPr>
          <a:xfrm>
            <a:off x="1298448" y="179946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Extract structured information (item, location, time) from free-text reports.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6217920" y="184518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217920" y="1845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2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6"/>
          <p:cNvSpPr txBox="1"/>
          <p:nvPr/>
        </p:nvSpPr>
        <p:spPr>
          <a:xfrm>
            <a:off x="6876288" y="179946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Identify grammatical structure and key word categories using POS tagging.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640080" y="326250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40080" y="326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3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 9"/>
          <p:cNvSpPr txBox="1"/>
          <p:nvPr/>
        </p:nvSpPr>
        <p:spPr>
          <a:xfrm>
            <a:off x="1298448" y="321678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Convert descriptions into numerical features using TF-IDF and n-grams.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217920" y="326250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217920" y="326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4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876288" y="321678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Compute similarity between lost and found reports using cosine similarity.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40080" y="467982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640080" y="4679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5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298448" y="463410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Rank and recommend the most likely matches for each report.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6217920" y="4679824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217920" y="4679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6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2" name="Text 18"/>
          <p:cNvSpPr txBox="1"/>
          <p:nvPr/>
        </p:nvSpPr>
        <p:spPr>
          <a:xfrm>
            <a:off x="6876288" y="4634104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Reduce manual effort and improve turnaround time for reuniting owners with items.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Text 19"/>
          <p:cNvSpPr txBox="1"/>
          <p:nvPr/>
        </p:nvSpPr>
        <p:spPr>
          <a:xfrm>
            <a:off x="11292840" y="630117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endParaRPr lang="en-US" sz="105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Core NLP Techniques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40080" y="12344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The pipeline moves from raw text to a ranked match: entities and structure are extracted first, then descriptions are turned into comparable numeric features, and finally scored for similarity.</a:t>
            </a:r>
            <a:endParaRPr lang="en-US" sz="1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3074104" y="2262120"/>
            <a:ext cx="5394960" cy="1371600"/>
          </a:xfrm>
          <a:prstGeom prst="roundRect">
            <a:avLst>
              <a:gd name="adj" fmla="val 5333"/>
            </a:avLst>
          </a:prstGeom>
          <a:solidFill>
            <a:srgbClr val="F2F3F5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3302704" y="2353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Example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 7"/>
          <p:cNvSpPr txBox="1"/>
          <p:nvPr/>
        </p:nvSpPr>
        <p:spPr>
          <a:xfrm>
            <a:off x="3302704" y="27193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"iPhone lost near Block C" → item: iPhone, location: Block C → compared to found report → similarity score 0.87 → match</a:t>
            </a:r>
            <a:endParaRPr lang="en-US" sz="12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1005840" y="4160520"/>
            <a:ext cx="1371600" cy="1371600"/>
          </a:xfrm>
          <a:prstGeom prst="ellipse">
            <a:avLst/>
          </a:prstGeom>
          <a:solidFill>
            <a:srgbClr val="1B1F5C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2" descr="/home/claude/work/icons/ta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44805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8580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NER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2423160" y="4709160"/>
            <a:ext cx="685800" cy="274320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16" name="Shape 11"/>
          <p:cNvSpPr/>
          <p:nvPr/>
        </p:nvSpPr>
        <p:spPr>
          <a:xfrm>
            <a:off x="4023360" y="4160520"/>
            <a:ext cx="1371600" cy="13716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3" descr="/home/claude/work/icons/spell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448056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370332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POS Tagging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Shape 13"/>
          <p:cNvSpPr/>
          <p:nvPr/>
        </p:nvSpPr>
        <p:spPr>
          <a:xfrm>
            <a:off x="5440680" y="4709160"/>
            <a:ext cx="685800" cy="274320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20" name="Shape 14"/>
          <p:cNvSpPr/>
          <p:nvPr/>
        </p:nvSpPr>
        <p:spPr>
          <a:xfrm>
            <a:off x="7040880" y="4160520"/>
            <a:ext cx="1371600" cy="1371600"/>
          </a:xfrm>
          <a:prstGeom prst="ellipse">
            <a:avLst/>
          </a:prstGeom>
          <a:solidFill>
            <a:srgbClr val="6A2C9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4" descr="/home/claude/work/icons/calculato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4480560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672084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TF-IDF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Shape 16"/>
          <p:cNvSpPr/>
          <p:nvPr/>
        </p:nvSpPr>
        <p:spPr>
          <a:xfrm>
            <a:off x="8458200" y="4709160"/>
            <a:ext cx="685800" cy="274320"/>
          </a:xfrm>
          <a:prstGeom prst="rightArrow">
            <a:avLst/>
          </a:prstGeom>
          <a:solidFill>
            <a:srgbClr val="9AA0B4"/>
          </a:solidFill>
          <a:ln/>
        </p:spPr>
      </p:sp>
      <p:sp>
        <p:nvSpPr>
          <p:cNvPr id="24" name="Shape 17"/>
          <p:cNvSpPr/>
          <p:nvPr/>
        </p:nvSpPr>
        <p:spPr>
          <a:xfrm>
            <a:off x="10058400" y="4160520"/>
            <a:ext cx="1371600" cy="1371600"/>
          </a:xfrm>
          <a:prstGeom prst="ellipse">
            <a:avLst/>
          </a:prstGeom>
          <a:solidFill>
            <a:srgbClr val="B03A2E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5" name="Image 5" descr="/home/claude/work/icons/balancesca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69880" y="4480560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738360" y="55778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Cosine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Similarity</a:t>
            </a:r>
            <a:endParaRPr lang="en-US" sz="1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 19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Applications of NLP Techniques in Real World</a:t>
            </a:r>
            <a:endParaRPr lang="en-US" sz="2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Shape 1"/>
          <p:cNvSpPr/>
          <p:nvPr/>
        </p:nvSpPr>
        <p:spPr>
          <a:xfrm>
            <a:off x="822960" y="141732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2" descr="/home/claude/work/icons/fil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1554480"/>
            <a:ext cx="292608" cy="292608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554480" y="1371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Spam &amp; text classification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hape 3"/>
          <p:cNvSpPr/>
          <p:nvPr/>
        </p:nvSpPr>
        <p:spPr>
          <a:xfrm>
            <a:off x="6400800" y="1417320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3" descr="/home/claude/work/icons/rob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1554480"/>
            <a:ext cx="292608" cy="292608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7132320" y="13716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Chatbots &amp; virtual assistants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5"/>
          <p:cNvSpPr/>
          <p:nvPr/>
        </p:nvSpPr>
        <p:spPr>
          <a:xfrm>
            <a:off x="822960" y="2404872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4" descr="/home/claude/work/icons/magnifyingglas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2542032"/>
            <a:ext cx="292608" cy="292608"/>
          </a:xfrm>
          <a:prstGeom prst="rect">
            <a:avLst/>
          </a:prstGeom>
        </p:spPr>
      </p:pic>
      <p:sp>
        <p:nvSpPr>
          <p:cNvPr id="13" name="Text 6"/>
          <p:cNvSpPr txBox="1"/>
          <p:nvPr/>
        </p:nvSpPr>
        <p:spPr>
          <a:xfrm>
            <a:off x="1554480" y="23591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Search engines &amp; information retrieval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Shape 7"/>
          <p:cNvSpPr/>
          <p:nvPr/>
        </p:nvSpPr>
        <p:spPr>
          <a:xfrm>
            <a:off x="6400800" y="2404872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5" name="Image 5" descr="/home/claude/work/icons/faceSmi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37960" y="2542032"/>
            <a:ext cx="292608" cy="29260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7132320" y="235915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Sentiment analysis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9"/>
          <p:cNvSpPr/>
          <p:nvPr/>
        </p:nvSpPr>
        <p:spPr>
          <a:xfrm>
            <a:off x="822960" y="3392424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Image 6" descr="/home/claude/work/icons/langu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" y="3529584"/>
            <a:ext cx="292608" cy="292608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1554480" y="33467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Machine translation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" name="Shape 11"/>
          <p:cNvSpPr/>
          <p:nvPr/>
        </p:nvSpPr>
        <p:spPr>
          <a:xfrm>
            <a:off x="6400800" y="3392424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7" descr="/home/claude/work/icons/briefcas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37960" y="3529584"/>
            <a:ext cx="292608" cy="292608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132320" y="334670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Resume / job matching systems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822960" y="4379976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Image 8" descr="/home/claude/work/icons/copy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0120" y="4517136"/>
            <a:ext cx="292608" cy="292608"/>
          </a:xfrm>
          <a:prstGeom prst="rect">
            <a:avLst/>
          </a:prstGeom>
        </p:spPr>
      </p:pic>
      <p:sp>
        <p:nvSpPr>
          <p:cNvPr id="25" name="Text 14"/>
          <p:cNvSpPr txBox="1"/>
          <p:nvPr/>
        </p:nvSpPr>
        <p:spPr>
          <a:xfrm>
            <a:off x="1554480" y="43342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Plagiarism detection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Shape 15"/>
          <p:cNvSpPr/>
          <p:nvPr/>
        </p:nvSpPr>
        <p:spPr>
          <a:xfrm>
            <a:off x="6400800" y="4379976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7" name="Image 9" descr="/home/claude/work/icons/microphon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7960" y="4517136"/>
            <a:ext cx="292608" cy="292608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7132320" y="433425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Speech-to-text &amp; voice assistants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Shape 17"/>
          <p:cNvSpPr/>
          <p:nvPr/>
        </p:nvSpPr>
        <p:spPr>
          <a:xfrm>
            <a:off x="822960" y="5367528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0" name="Image 10" descr="/home/claude/work/icons/thumbsup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0120" y="5504688"/>
            <a:ext cx="292608" cy="292608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1554480" y="53218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Recommendation systems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" name="Shape 19"/>
          <p:cNvSpPr/>
          <p:nvPr/>
        </p:nvSpPr>
        <p:spPr>
          <a:xfrm>
            <a:off x="6400800" y="5367528"/>
            <a:ext cx="566928" cy="566928"/>
          </a:xfrm>
          <a:prstGeom prst="ellipse">
            <a:avLst/>
          </a:prstGeom>
          <a:solidFill>
            <a:srgbClr val="1C7293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3" name="Image 11" descr="/home/claude/work/icons/boxopenwhit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537960" y="5504688"/>
            <a:ext cx="292608" cy="292608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7132320" y="5321808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Lost-and-found / classified matching (this project)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5" name="Text 21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8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306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3000" dirty="0"/>
          </a:p>
        </p:txBody>
      </p:sp>
      <p:sp>
        <p:nvSpPr>
          <p:cNvPr id="5" name="Shape 1"/>
          <p:cNvSpPr/>
          <p:nvPr/>
        </p:nvSpPr>
        <p:spPr>
          <a:xfrm>
            <a:off x="502920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B9C4E4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3152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3"/>
          <p:cNvSpPr/>
          <p:nvPr/>
        </p:nvSpPr>
        <p:spPr>
          <a:xfrm>
            <a:off x="1120140" y="260604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1F5C"/>
            </a:solidFill>
            <a:prstDash val="solid"/>
          </a:ln>
        </p:spPr>
      </p:sp>
      <p:pic>
        <p:nvPicPr>
          <p:cNvPr id="8" name="Image 2" descr="/home/claude/work/icons/mapmar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0180" y="2926080"/>
            <a:ext cx="731520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40080" y="4251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Context &amp;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Information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10" name="Shape 5"/>
          <p:cNvSpPr/>
          <p:nvPr/>
        </p:nvSpPr>
        <p:spPr>
          <a:xfrm>
            <a:off x="3364992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00AEE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3593592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Shape 7"/>
          <p:cNvSpPr/>
          <p:nvPr/>
        </p:nvSpPr>
        <p:spPr>
          <a:xfrm>
            <a:off x="3982212" y="260604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1F5C"/>
            </a:solidFill>
            <a:prstDash val="solid"/>
          </a:ln>
        </p:spPr>
      </p:sp>
      <p:pic>
        <p:nvPicPr>
          <p:cNvPr id="13" name="Image 3" descr="/home/claude/work/icons/sitema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02252" y="2926080"/>
            <a:ext cx="731520" cy="7315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502152" y="4251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Syntactic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6227064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8DC63F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16" name="Text 10"/>
          <p:cNvSpPr txBox="1"/>
          <p:nvPr/>
        </p:nvSpPr>
        <p:spPr>
          <a:xfrm>
            <a:off x="6455664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Shape 11"/>
          <p:cNvSpPr/>
          <p:nvPr/>
        </p:nvSpPr>
        <p:spPr>
          <a:xfrm>
            <a:off x="6844284" y="260604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1F5C"/>
            </a:solidFill>
            <a:prstDash val="solid"/>
          </a:ln>
        </p:spPr>
      </p:sp>
      <p:pic>
        <p:nvPicPr>
          <p:cNvPr id="18" name="Image 4" descr="/home/claude/work/icons/layergrou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4324" y="2926080"/>
            <a:ext cx="731520" cy="73152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364224" y="4251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Linguistic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9089136" y="1600200"/>
            <a:ext cx="2606040" cy="4480560"/>
          </a:xfrm>
          <a:prstGeom prst="roundRect">
            <a:avLst>
              <a:gd name="adj" fmla="val 3509"/>
            </a:avLst>
          </a:prstGeom>
          <a:solidFill>
            <a:srgbClr val="F5A623"/>
          </a:solidFill>
          <a:ln w="9525">
            <a:solidFill>
              <a:srgbClr val="333333"/>
            </a:solidFill>
            <a:prstDash val="solid"/>
          </a:ln>
        </p:spPr>
      </p:sp>
      <p:sp>
        <p:nvSpPr>
          <p:cNvPr id="21" name="Text 14"/>
          <p:cNvSpPr txBox="1"/>
          <p:nvPr/>
        </p:nvSpPr>
        <p:spPr>
          <a:xfrm>
            <a:off x="9317736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F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2" name="Shape 15"/>
          <p:cNvSpPr/>
          <p:nvPr/>
        </p:nvSpPr>
        <p:spPr>
          <a:xfrm>
            <a:off x="9706356" y="2606040"/>
            <a:ext cx="1371600" cy="13716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B1F5C"/>
            </a:solidFill>
            <a:prstDash val="solid"/>
          </a:ln>
        </p:spPr>
      </p:sp>
      <p:pic>
        <p:nvPicPr>
          <p:cNvPr id="23" name="Image 5" descr="/home/claude/work/icons/l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26396" y="2926080"/>
            <a:ext cx="731520" cy="73152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9226296" y="4251960"/>
            <a:ext cx="2331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Lost-and-Found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B1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500" dirty="0"/>
          </a:p>
        </p:txBody>
      </p:sp>
      <p:sp>
        <p:nvSpPr>
          <p:cNvPr id="25" name="Text 17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lenovo\Downloads\ChatGPT Image Aug 29, 2026, 09_17_33 AM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223797"/>
            <a:ext cx="10140287" cy="646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29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Module 1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188720" y="93268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1B1F5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Campus Context &amp; Item Information Extraction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6A2C9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Objective:  </a:t>
            </a:r>
            <a:r>
              <a:rPr lang="en-US" sz="14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To extract important information such as item, location, and time from user-submitted lost/found descriptions.</a:t>
            </a:r>
            <a:endParaRPr lang="en-US" sz="1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B1F5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Project Components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2296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Item Identification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Location Extraction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Date / Time Extraction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34340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3F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177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Tasks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17720" y="3227832"/>
            <a:ext cx="30632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772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Parse item name &amp; description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Detect campus block, room, floor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Extract reported date/time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41248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Techniques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41248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1248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Named Entity Recognition (NER)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Python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NLP libraries, database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 descr="C:\Users\lenovo\Downloads\WhatsApp Image 2026-08-28 at 23.02.52 (1).jpe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436" y="259307"/>
            <a:ext cx="9266830" cy="637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44704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Module 2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188720" y="93268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1B1F5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Syntactic Structure Analysis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6A2C9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Objective:  </a:t>
            </a:r>
            <a:r>
              <a:rPr lang="en-US" sz="14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To analyze the grammatical structure of the reported description and identify important word categories.</a:t>
            </a:r>
            <a:endParaRPr lang="en-US" sz="1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B1F5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Project Components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2296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POS Tagging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Word Category Detection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Grammar Structuring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34340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3F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177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Tasks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17720" y="3227832"/>
            <a:ext cx="30632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772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Tag nouns, verbs, adjectives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Identify prepositions &amp; modifiers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Structure tagged output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41248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Techniques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41248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1248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HMM-based POS Tagging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Python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NLTK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11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lenovo\Downloads\WhatsApp Image 2026-08-28 at 23.03.42 (1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8423" y="122828"/>
            <a:ext cx="9389661" cy="6666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1339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Module 3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188720" y="93268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1B1F5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Linguistic Feature Extraction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6A2C9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Objective:  </a:t>
            </a:r>
            <a:r>
              <a:rPr lang="en-US" sz="14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To convert item descriptions into meaningful numerical/textual features for comparison.</a:t>
            </a:r>
            <a:endParaRPr lang="en-US" sz="1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B1F5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Project Components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2296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TF-IDF Weighting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N-gram Extraction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Feature Vector Building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34340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3F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177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Tasks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17720" y="3227832"/>
            <a:ext cx="30632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772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Compute TF-IDF weights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Generate unigram/bigram/trigram features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Build comparable vectors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41248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Techniques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41248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1248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TF-IDF + N-gram Extraction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Python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Scikit-learn, NLTK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12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lenovo\Downloads\WhatsApp Image 2026-08-28 at 23.04.13 (1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16" y="120552"/>
            <a:ext cx="11750723" cy="6621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6629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Module 4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1188720" y="932688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900" b="1" dirty="0">
                <a:solidFill>
                  <a:srgbClr val="1B1F5C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Lost-and-Found Similarity Matching</a:t>
            </a:r>
            <a:endParaRPr lang="en-US" sz="19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2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450" b="1" dirty="0">
                <a:solidFill>
                  <a:srgbClr val="6A2C91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Objective:  </a:t>
            </a:r>
            <a:r>
              <a:rPr lang="en-US" sz="14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To compare lost and found reports and rank the most likely matching items.</a:t>
            </a:r>
            <a:endParaRPr lang="en-US" sz="14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4864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B1F5C"/>
          </a:solidFill>
          <a:ln/>
        </p:spPr>
      </p:sp>
      <p:sp>
        <p:nvSpPr>
          <p:cNvPr id="8" name="Text 4"/>
          <p:cNvSpPr txBox="1"/>
          <p:nvPr/>
        </p:nvSpPr>
        <p:spPr>
          <a:xfrm>
            <a:off x="82296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Project Components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Shape 5"/>
          <p:cNvSpPr/>
          <p:nvPr/>
        </p:nvSpPr>
        <p:spPr>
          <a:xfrm>
            <a:off x="82296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Text Similarity Scoring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Location Matching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Match Ranking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434340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F2F3F5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461772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2B2B2B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Tasks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617720" y="3227832"/>
            <a:ext cx="3063240" cy="0"/>
          </a:xfrm>
          <a:prstGeom prst="line">
            <a:avLst/>
          </a:prstGeom>
          <a:noFill/>
          <a:ln w="9525">
            <a:solidFill>
              <a:srgbClr val="2B2B2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61772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Compare extracted features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Compute cosine similarity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Rank &amp; threshold matches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138160" y="2606040"/>
            <a:ext cx="3611880" cy="3566160"/>
          </a:xfrm>
          <a:prstGeom prst="roundRect">
            <a:avLst>
              <a:gd name="adj" fmla="val 2051"/>
            </a:avLst>
          </a:prstGeom>
          <a:solidFill>
            <a:srgbClr val="1C7293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8412480" y="2834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2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Techniques</a:t>
            </a:r>
            <a:endParaRPr lang="en-US" sz="1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8412480" y="3227832"/>
            <a:ext cx="3063240" cy="0"/>
          </a:xfrm>
          <a:prstGeom prst="line">
            <a:avLst/>
          </a:prstGeom>
          <a:noFill/>
          <a:ln w="9525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8412480" y="3383280"/>
            <a:ext cx="30632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Cosine Similarity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Python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  <a:p>
            <a:pPr marL="203200" indent="-203200">
              <a:lnSpc>
                <a:spcPct val="200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FFFFFF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Scikit-learn, NumPy, database</a:t>
            </a:r>
            <a:endParaRPr lang="en-US" sz="135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13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blob:https://web.whatsapp.com/7f2044cd-2615-432c-b10e-d5b9c23f512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100" name="Picture 4" descr="C:\Users\lenovo\Downloads\WhatsApp Image 2026-08-28 at 23.04.47 (1)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17121"/>
            <a:ext cx="11729350" cy="6626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8245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 smtClean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FUTURE SCOPE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40080" y="1600200"/>
            <a:ext cx="70408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Develop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 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mobile application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for easy reporting and tracking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Improve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matching using 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advanced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AI 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techniques.</a:t>
            </a: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Add real-time notifications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for potential matches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Integrate QR codes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for quick lost-and-found reporting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.</a:t>
            </a: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Add campus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map and location-based </a:t>
            </a: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features.</a:t>
            </a: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 smtClean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Support multiple languages </a:t>
            </a: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for easier use.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7955280" y="19202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89720" y="2468880"/>
            <a:ext cx="1463040" cy="1463040"/>
          </a:xfrm>
          <a:prstGeom prst="ellipse">
            <a:avLst/>
          </a:prstGeom>
          <a:solidFill>
            <a:srgbClr val="00A65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2" descr="/home/claude/work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2834640"/>
            <a:ext cx="731520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Faster Reunions,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Less Waste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6212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CONCLUSION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40080" y="1600200"/>
            <a:ext cx="704088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Uses NLP (NER, POS tagging, TF-IDF, cosine similarity) to automatically match lost and found campus reports.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Reduces manual effort and speeds up reuniting items with their owners.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Handles varied user descriptions through structured extraction and similarity ranking.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Supports smarter, more responsive campus lost-and-found services.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  <a:p>
            <a:pPr marL="228600" indent="-228600">
              <a:lnSpc>
                <a:spcPct val="200000"/>
              </a:lnSpc>
              <a:spcAft>
                <a:spcPts val="1600"/>
              </a:spcAft>
              <a:buSzPct val="100000"/>
              <a:buChar char="•"/>
            </a:pPr>
            <a:r>
              <a:rPr lang="en-US" sz="1500" dirty="0">
                <a:solidFill>
                  <a:srgbClr val="2B2B2B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Contributes to SDG 12: Responsible Consumption and Production by encouraging reuse over replacement.</a:t>
            </a:r>
            <a:endParaRPr lang="en-US" sz="1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Shape 2"/>
          <p:cNvSpPr/>
          <p:nvPr/>
        </p:nvSpPr>
        <p:spPr>
          <a:xfrm>
            <a:off x="7955280" y="192024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F2F3F5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189720" y="2468880"/>
            <a:ext cx="1463040" cy="1463040"/>
          </a:xfrm>
          <a:prstGeom prst="ellipse">
            <a:avLst/>
          </a:prstGeom>
          <a:solidFill>
            <a:srgbClr val="00A651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8" name="Image 2" descr="/home/claude/work/icons/handsh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2834640"/>
            <a:ext cx="731520" cy="7315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8138160" y="41148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Faster Reunions,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lnSpc>
                <a:spcPct val="200000"/>
              </a:lnSpc>
              <a:buNone/>
            </a:pPr>
            <a:r>
              <a:rPr lang="en-US" sz="1400" b="1" dirty="0">
                <a:solidFill>
                  <a:srgbClr val="1B1F5C"/>
                </a:solidFill>
                <a:latin typeface="Times New Roman" pitchFamily="18" charset="0"/>
                <a:ea typeface="Calibri" pitchFamily="34" charset="-122"/>
                <a:cs typeface="Times New Roman" pitchFamily="18" charset="0"/>
              </a:rPr>
              <a:t>Less Waste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pic>
        <p:nvPicPr>
          <p:cNvPr id="3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88720" y="292608"/>
            <a:ext cx="9811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200000"/>
              </a:lnSpc>
              <a:buNone/>
            </a:pPr>
            <a:r>
              <a:rPr lang="en-US" sz="3000" b="1" dirty="0" smtClean="0">
                <a:solidFill>
                  <a:srgbClr val="E30613"/>
                </a:solidFill>
                <a:latin typeface="Times New Roman" pitchFamily="18" charset="0"/>
                <a:ea typeface="Cambria" pitchFamily="34" charset="-122"/>
                <a:cs typeface="Times New Roman" pitchFamily="18" charset="0"/>
              </a:rPr>
              <a:t>REFERENCES</a:t>
            </a:r>
            <a:endParaRPr lang="en-US" sz="3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1"/>
          <p:cNvSpPr txBox="1"/>
          <p:nvPr/>
        </p:nvSpPr>
        <p:spPr>
          <a:xfrm>
            <a:off x="640080" y="1600200"/>
            <a:ext cx="10687562" cy="4892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[1]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Jurafsky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D. and Martin, J. H. Speech and Language Processing (3rd ed. draft). Stanford University.</a:t>
            </a:r>
          </a:p>
          <a:p>
            <a:pPr>
              <a:lnSpc>
                <a:spcPct val="2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[2] Manning, C. D.,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Raghavan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P., and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Schütze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H. Introduction to Information Retrieval. Cambridge University Press.</a:t>
            </a:r>
          </a:p>
          <a:p>
            <a:pPr>
              <a:lnSpc>
                <a:spcPct val="2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[3] Bird, S., Klein, E., and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Loper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E. Natural Language Processing with Python (NLTK). O'Reilly Media.</a:t>
            </a:r>
          </a:p>
          <a:p>
            <a:pPr>
              <a:lnSpc>
                <a:spcPct val="2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[4]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Pedregosa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, F. et al. </a:t>
            </a:r>
            <a:r>
              <a:rPr lang="en-US" sz="1600" dirty="0" err="1">
                <a:latin typeface="Times New Roman" pitchFamily="18" charset="0"/>
                <a:cs typeface="Times New Roman" pitchFamily="18" charset="0"/>
              </a:rPr>
              <a:t>Scikit</a:t>
            </a: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-learn: Machine Learning in Python. Journal of Machine Learning Research, 12, 2825-2830.</a:t>
            </a:r>
          </a:p>
          <a:p>
            <a:pPr>
              <a:lnSpc>
                <a:spcPct val="250000"/>
              </a:lnSpc>
            </a:pPr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[5] Salton, G. and Buckley, C. Term-weighting approaches in automatic text retrieval. Information Processing &amp; Management, 24(5), 513-523.</a:t>
            </a:r>
          </a:p>
        </p:txBody>
      </p:sp>
      <p:sp>
        <p:nvSpPr>
          <p:cNvPr id="10" name="Text 5"/>
          <p:cNvSpPr txBox="1"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lnSpc>
                <a:spcPct val="200000"/>
              </a:lnSpc>
              <a:buNone/>
            </a:pPr>
            <a:r>
              <a:rPr lang="en-US" sz="1000" dirty="0">
                <a:solidFill>
                  <a:srgbClr val="888888"/>
                </a:solidFill>
                <a:latin typeface="Times New Roman" pitchFamily="18" charset="0"/>
                <a:cs typeface="Times New Roman" pitchFamily="18" charset="0"/>
              </a:rPr>
              <a:t>15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7240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s/logo_le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56032"/>
            <a:ext cx="749808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174175" y="-1645920"/>
            <a:ext cx="3291840" cy="3291840"/>
          </a:xfrm>
          <a:prstGeom prst="ellipse">
            <a:avLst/>
          </a:prstGeom>
          <a:solidFill>
            <a:srgbClr val="1B1F5C"/>
          </a:solidFill>
          <a:ln/>
        </p:spPr>
      </p:sp>
      <p:pic>
        <p:nvPicPr>
          <p:cNvPr id="4" name="Image 1" descr="/home/claude/work/logos/logo_right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28832" y="256032"/>
            <a:ext cx="713232" cy="713232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-1645920" y="5212080"/>
            <a:ext cx="3291840" cy="32918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Shape 2"/>
          <p:cNvSpPr/>
          <p:nvPr/>
        </p:nvSpPr>
        <p:spPr>
          <a:xfrm>
            <a:off x="5184648" y="2331720"/>
            <a:ext cx="1371600" cy="13716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2" descr="/home/claude/work/icons/ques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408" y="2697480"/>
            <a:ext cx="640080" cy="6400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3355848" y="37947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A6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1005</Words>
  <Application>Microsoft Office PowerPoint</Application>
  <PresentationFormat>Custom</PresentationFormat>
  <Paragraphs>218</Paragraphs>
  <Slides>21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lenovo</cp:lastModifiedBy>
  <cp:revision>11</cp:revision>
  <dcterms:created xsi:type="dcterms:W3CDTF">2026-08-29T02:33:28Z</dcterms:created>
  <dcterms:modified xsi:type="dcterms:W3CDTF">2026-09-01T08:10:42Z</dcterms:modified>
</cp:coreProperties>
</file>